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303" r:id="rId54"/>
    <p:sldId id="304" r:id="rId36"/>
    <p:sldId id="305" r:id="rId37"/>
    <p:sldId id="306" r:id="rId38"/>
    <p:sldId id="307" r:id="rId39"/>
    <p:sldId id="308" r:id="rId40"/>
  </p:sldIdLst>
  <p:sldSz cy="5143500" cx="9144000"/>
  <p:notesSz cx="6858000" cy="9144000"/>
  <p:embeddedFontLst>
    <p:embeddedFont>
      <p:font typeface="Barlow Semi Condensed Light"/>
      <p:regular r:id="rId55"/>
      <p:bold r:id="rId56"/>
      <p:italic r:id="rId57"/>
      <p:boldItalic r:id="rId58"/>
    </p:embeddedFont>
    <p:embeddedFont>
      <p:font typeface="Proxima Nova"/>
      <p:regular r:id="rId59"/>
      <p:bold r:id="rId60"/>
      <p:italic r:id="rId61"/>
      <p:boldItalic r:id="rId62"/>
    </p:embeddedFont>
    <p:embeddedFont>
      <p:font typeface="Roboto Medium"/>
      <p:regular r:id="rId63"/>
      <p:bold r:id="rId64"/>
      <p:italic r:id="rId65"/>
      <p:boldItalic r:id="rId66"/>
    </p:embeddedFont>
    <p:embeddedFont>
      <p:font typeface="Amatic SC"/>
      <p:regular r:id="rId67"/>
      <p:bold r:id="rId68"/>
    </p:embeddedFont>
    <p:embeddedFont>
      <p:font typeface="Fjalla One"/>
      <p:regular r:id="rId69"/>
    </p:embeddedFont>
    <p:embeddedFont>
      <p:font typeface="Barlow Semi Condensed Medium"/>
      <p:regular r:id="rId70"/>
      <p:bold r:id="rId71"/>
      <p:italic r:id="rId72"/>
      <p:boldItalic r:id="rId73"/>
    </p:embeddedFont>
    <p:embeddedFont>
      <p:font typeface="Abel"/>
      <p:regular r:id="rId74"/>
    </p:embeddedFont>
    <p:embeddedFont>
      <p:font typeface="Proxima Nova Semibold"/>
      <p:regular r:id="rId75"/>
      <p:bold r:id="rId76"/>
      <p:boldItalic r:id="rId77"/>
    </p:embeddedFont>
    <p:embeddedFont>
      <p:font typeface="Barlow Semi Condensed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1927CB-78BD-4705-82E5-0DBADBE03862}">
  <a:tblStyle styleId="{A91927CB-78BD-4705-82E5-0DBADBE038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36" Type="http://schemas.openxmlformats.org/officeDocument/2006/relationships/slide" Target="slides/slide3.xml"/><Relationship Id="rId37" Type="http://schemas.openxmlformats.org/officeDocument/2006/relationships/slide" Target="slides/slide4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40" Type="http://schemas.openxmlformats.org/officeDocument/2006/relationships/slide" Target="slides/slide7.xml"/><Relationship Id="rId54" Type="http://schemas.openxmlformats.org/officeDocument/2006/relationships/slide" Target="slides/slide48.xml"/><Relationship Id="rId55" Type="http://schemas.openxmlformats.org/officeDocument/2006/relationships/font" Target="fonts/BarlowSemiCondensedLight-regular.fntdata"/><Relationship Id="rId56" Type="http://schemas.openxmlformats.org/officeDocument/2006/relationships/font" Target="fonts/BarlowSemiCondensedLight-bold.fntdata"/><Relationship Id="rId57" Type="http://schemas.openxmlformats.org/officeDocument/2006/relationships/font" Target="fonts/BarlowSemiCondensedLight-italic.fntdata"/><Relationship Id="rId58" Type="http://schemas.openxmlformats.org/officeDocument/2006/relationships/font" Target="fonts/BarlowSemiCondensedLight-boldItalic.fntdata"/><Relationship Id="rId59" Type="http://schemas.openxmlformats.org/officeDocument/2006/relationships/font" Target="fonts/ProximaNova-regular.fntdata"/><Relationship Id="rId60" Type="http://schemas.openxmlformats.org/officeDocument/2006/relationships/font" Target="fonts/ProximaNova-bold.fntdata"/><Relationship Id="rId61" Type="http://schemas.openxmlformats.org/officeDocument/2006/relationships/font" Target="fonts/ProximaNova-italic.fntdata"/><Relationship Id="rId62" Type="http://schemas.openxmlformats.org/officeDocument/2006/relationships/font" Target="fonts/ProximaNova-boldItalic.fntdata"/><Relationship Id="rId63" Type="http://schemas.openxmlformats.org/officeDocument/2006/relationships/font" Target="fonts/RobotoMedium-regular.fntdata"/><Relationship Id="rId64" Type="http://schemas.openxmlformats.org/officeDocument/2006/relationships/font" Target="fonts/RobotoMedium-bold.fntdata"/><Relationship Id="rId65" Type="http://schemas.openxmlformats.org/officeDocument/2006/relationships/font" Target="fonts/RobotoMedium-italic.fntdata"/><Relationship Id="rId66" Type="http://schemas.openxmlformats.org/officeDocument/2006/relationships/font" Target="fonts/RobotoMedium-boldItalic.fntdata"/><Relationship Id="rId67" Type="http://schemas.openxmlformats.org/officeDocument/2006/relationships/font" Target="fonts/AmaticSC-regular.fntdata"/><Relationship Id="rId68" Type="http://schemas.openxmlformats.org/officeDocument/2006/relationships/font" Target="fonts/AmaticSC-bold.fntdata"/><Relationship Id="rId69" Type="http://schemas.openxmlformats.org/officeDocument/2006/relationships/font" Target="fonts/FjallaOne-regular.fntdata"/><Relationship Id="rId70" Type="http://schemas.openxmlformats.org/officeDocument/2006/relationships/font" Target="fonts/BarlowSemiCondensedMedium-regular.fntdata"/><Relationship Id="rId71" Type="http://schemas.openxmlformats.org/officeDocument/2006/relationships/font" Target="fonts/BarlowSemiCondensedMedium-bold.fntdata"/><Relationship Id="rId72" Type="http://schemas.openxmlformats.org/officeDocument/2006/relationships/font" Target="fonts/BarlowSemiCondensedMedium-italic.fntdata"/><Relationship Id="rId73" Type="http://schemas.openxmlformats.org/officeDocument/2006/relationships/font" Target="fonts/BarlowSemiCondensedMedium-boldItalic.fntdata"/><Relationship Id="rId74" Type="http://schemas.openxmlformats.org/officeDocument/2006/relationships/font" Target="fonts/Abel-regular.fntdata"/><Relationship Id="rId75" Type="http://schemas.openxmlformats.org/officeDocument/2006/relationships/font" Target="fonts/ProximaNovaSemibold-regular.fntdata"/><Relationship Id="rId76" Type="http://schemas.openxmlformats.org/officeDocument/2006/relationships/font" Target="fonts/ProximaNovaSemibold-bold.fntdata"/><Relationship Id="rId77" Type="http://schemas.openxmlformats.org/officeDocument/2006/relationships/font" Target="fonts/ProximaNovaSemibold-boldItalic.fntdata"/><Relationship Id="rId78" Type="http://schemas.openxmlformats.org/officeDocument/2006/relationships/font" Target="fonts/BarlowSemiCondensed-regular.fntdata"/><Relationship Id="rId79" Type="http://schemas.openxmlformats.org/officeDocument/2006/relationships/font" Target="fonts/BarlowSemiCondensed-bold.fntdata"/><Relationship Id="rId80" Type="http://schemas.openxmlformats.org/officeDocument/2006/relationships/font" Target="fonts/BarlowSemiCondensed-italic.fntdata"/><Relationship Id="rId81" Type="http://schemas.openxmlformats.org/officeDocument/2006/relationships/font" Target="fonts/BarlowSemiCondense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5" name="Shape 15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6" name="Google Shape;15336;g86fa6133bc_4_20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7" name="Google Shape;15337;g86fa6133bc_4_20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684" name="Google Shape;1684;p3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4" name="Google Shape;1884;p35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Technology Consulting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accent1"/>
                </a:solidFill>
              </a:rPr>
              <a:t>Here is where your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accent1"/>
                </a:solidFill>
              </a:rPr>
              <a:t>presentation begins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Lumiere Logistique - Preparation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t>Lumiere Logistique is a logistics company focused on the preparation step</a:t>
            </a:r>
          </a:p>
          <a:p>
            <a:pPr/>
            <a:r>
              <a:t>preparing customer orders</a:t>
            </a:r>
          </a:p>
          <a:p>
            <a:pPr/>
            <a:r>
              <a:t>organizing pallets</a:t>
            </a:r>
          </a:p>
          <a:p>
            <a:pPr/>
            <a:r>
              <a:t>splitting volume by delivery point</a:t>
            </a:r>
          </a:p>
          <a:p>
            <a:pPr/>
            <a:r>
              <a:t>keeping shipments ready on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Lumiere Logistique - Preparation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t>The main users of this assistant are</a:t>
            </a:r>
          </a:p>
          <a:p>
            <a:pPr/>
            <a:r>
              <a:t>preparation agents</a:t>
            </a:r>
          </a:p>
          <a:p>
            <a:pPr/>
            <a:r>
              <a:t>team leads</a:t>
            </a:r>
          </a:p>
          <a:p>
            <a:pPr/>
            <a:r>
              <a:t>logistics managers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Role of the Preparation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t>You are the internal LumiCore assistant specialized in the Preparation step.</a:t>
            </a:r>
          </a:p>
          <a:p>
            <a:pPr/>
            <a:r>
              <a:t>You help employees consult real-time logistics data from the MySQL database.</a:t>
            </a:r>
          </a:p>
          <a:p>
            <a:pPr/>
            <a:r>
              <a:t>Reply in the user language, French or English.</a:t>
            </a:r>
          </a:p>
          <a:p>
            <a:pPr/>
            <a:r>
              <a:t>Never invent numbers. Always call the correct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Absolute Rule 1 - 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t>You do not know today's date.</a:t>
            </a:r>
          </a:p>
          <a:p>
            <a:pPr/>
            <a:r>
              <a:t>Never guess or invent a date.</a:t>
            </a:r>
          </a:p>
          <a:p>
            <a:pPr/>
            <a:r>
              <a:t>Whenever the user mentions today, yesterday, today, yesterday, or any relative date</a:t>
            </a:r>
          </a:p>
          <a:p>
            <a:pPr/>
            <a:r>
              <a:t>Call get current date first.</a:t>
            </a:r>
          </a:p>
          <a:p>
            <a:pPr/>
            <a:r>
              <a:t>Use today for today /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Absolute Rule 1 - Date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r>
              <a:t>Use yesterday for yesterday / yesterday.</a:t>
            </a:r>
          </a:p>
          <a:p>
            <a:pPr/>
            <a:r>
              <a:t>Then call the business tool with the returned date.</a:t>
            </a:r>
          </a:p>
          <a:p>
            <a:pPr/>
            <a:r>
              <a:t>Never answer with a date before calling get current date.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5338" name="Shape 15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39" name="Google Shape;15339;p8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